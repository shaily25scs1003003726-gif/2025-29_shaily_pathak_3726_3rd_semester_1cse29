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83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5" Type="http://schemas.openxmlformats.org/officeDocument/2006/relationships/image" Target="../media/image65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29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24" Type="http://schemas.openxmlformats.org/officeDocument/2006/relationships/image" Target="../media/image64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28" Type="http://schemas.openxmlformats.org/officeDocument/2006/relationships/image" Target="../media/image68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Relationship Id="rId27" Type="http://schemas.openxmlformats.org/officeDocument/2006/relationships/image" Target="../media/image67.png"/><Relationship Id="rId30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7127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270" y="0"/>
            <a:ext cx="512058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5819775"/>
            <a:ext cx="6118770" cy="561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270" y="5457825"/>
            <a:ext cx="4358580" cy="923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270" y="809625"/>
            <a:ext cx="4358580" cy="1400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2755106"/>
            <a:ext cx="2777579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164681"/>
            <a:ext cx="6424709" cy="46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sz="3150" b="0" i="0" u="none">
                <a:solidFill>
                  <a:srgbClr val="0F172A"/>
                </a:solidFill>
                <a:latin typeface="Plus Jakarta Sans ExtraBold"/>
              </a:rPr>
              <a:t>AI Deployment and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3739008"/>
            <a:ext cx="611877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63EB"/>
                </a:solidFill>
                <a:latin typeface="Inter SemiBold"/>
              </a:rPr>
              <a:t>An 8-Week Professional Internship Presentation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6019800"/>
            <a:ext cx="611877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Inter"/>
              </a:rPr>
              <a:t>INTERNSHIP 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6191250"/>
            <a:ext cx="611877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Inter"/>
              </a:rPr>
              <a:t>June 2026 – August 2026 (8 Weeks)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270" y="476250"/>
            <a:ext cx="435858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3C5FD"/>
                </a:solidFill>
                <a:latin typeface="Inter"/>
              </a:rPr>
              <a:t>STUDENT 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2295" y="5657850"/>
            <a:ext cx="395853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3C5FD"/>
                </a:solidFill>
                <a:latin typeface="Inter"/>
              </a:rPr>
              <a:t>HOST 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2295" y="5829300"/>
            <a:ext cx="395853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EduSkills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2295" y="6038850"/>
            <a:ext cx="395853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Supported by AICTE National Internship Portal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589508"/>
            <a:ext cx="333375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28495" y="1085850"/>
            <a:ext cx="38061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 u="none">
                <a:solidFill>
                  <a:srgbClr val="FFFFFF"/>
                </a:solidFill>
                <a:latin typeface="Plus Jakarta Sans ExtraBold"/>
              </a:rPr>
              <a:t>Shaily Pathak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561975"/>
            <a:ext cx="1771650" cy="18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sz="1350" b="0" i="0" u="none">
                <a:solidFill>
                  <a:srgbClr val="1E3A8A"/>
                </a:solidFill>
                <a:latin typeface="Plus Jakarta Sans ExtraBold"/>
              </a:rPr>
              <a:t>IILM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" y="750540"/>
            <a:ext cx="1771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 SemiBold"/>
              </a:rPr>
              <a:t>GREATER NOIDA, UTTAR PRADESH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8495" y="1619250"/>
            <a:ext cx="182686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Enrollment / Roll No.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8495" y="1771650"/>
            <a:ext cx="182686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Inter SemiBold"/>
              </a:rPr>
              <a:t>25SCS1003003726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7760" y="1619250"/>
            <a:ext cx="182686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Inter"/>
              </a:rPr>
              <a:t>Program &amp; Semester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7760" y="1771650"/>
            <a:ext cx="182686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8FAFC"/>
                </a:solidFill>
                <a:latin typeface="Inter SemiBold"/>
              </a:rPr>
              <a:t>B.Tech (CSE)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66800"/>
            <a:ext cx="5429250" cy="5372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066800"/>
            <a:ext cx="5429250" cy="537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6546" y="419100"/>
            <a:ext cx="11245453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Candidate &amp; Program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6250"/>
            <a:ext cx="298846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1390650"/>
            <a:ext cx="31432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33500" y="1381125"/>
            <a:ext cx="192024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Candidate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00977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Student Name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SHAILY PATHAK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52412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Roll Number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25SCS1003003726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03847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Degree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B.Tech (Computer Science &amp; Engineering)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55282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Academic Batch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6717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University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IILM University, Greater Noida, U.P.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1390650"/>
            <a:ext cx="31432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29450" y="1381125"/>
            <a:ext cx="18002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Internship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200977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Program Name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AICTE – EduSkills Virtual Internship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252412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Specialization Domain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AI Deployment &amp;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303847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Duration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8 Weeks (June 2026 – August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355282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Certificate ID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2026-E38A24E157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4067175"/>
            <a:ext cx="4762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Offer Letter Ref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C17Y2026M081511743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66032"/>
            <a:ext cx="11125200" cy="971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66182"/>
            <a:ext cx="3555950" cy="21733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3266182"/>
            <a:ext cx="3555950" cy="21733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3266182"/>
            <a:ext cx="3556099" cy="2173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8446" y="419100"/>
            <a:ext cx="11283553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Organization Profile: EduSkills Academy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76250"/>
            <a:ext cx="260746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2323207"/>
            <a:ext cx="10096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FFFFF"/>
                </a:solidFill>
                <a:latin typeface="Inter"/>
              </a:rPr>
              <a:t>"Nation Building Through Skills"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542407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4171057"/>
            <a:ext cx="30035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AICTE 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523482"/>
            <a:ext cx="30035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Operates under the patronage of the AICTE National Internship Portal to empower engineering talent across India.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175" y="3542407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4175" y="4171057"/>
            <a:ext cx="30035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Industry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175" y="4523482"/>
            <a:ext cx="30035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Partners with leading global tech organizations to bridge academia and industry gaps in emerging tech.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8725" y="3542407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78725" y="4171057"/>
            <a:ext cx="300364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Core Focus Domains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725" y="4523482"/>
            <a:ext cx="300364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Artificial Intelligence, MLOps, Cloud Computing, Cybersecurity, and Enterprise Automation.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675757"/>
            <a:ext cx="2857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3237" y="3675757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2075" y="367575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438400"/>
            <a:ext cx="5429250" cy="2628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438400"/>
            <a:ext cx="5429250" cy="2628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8446" y="419100"/>
            <a:ext cx="11283553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 Statement &amp; Industry Context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76250"/>
            <a:ext cx="260746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475" y="2771775"/>
            <a:ext cx="45339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9F1239"/>
                </a:solidFill>
                <a:latin typeface="Plus Jakarta Sans"/>
              </a:rPr>
              <a:t>The Industry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9425" y="2771775"/>
            <a:ext cx="45339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4532D"/>
                </a:solidFill>
                <a:latin typeface="Plus Jakarta Sans"/>
              </a:rPr>
              <a:t>The Solution Scope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280035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80035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3267075"/>
            <a:ext cx="114300" cy="647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7275" y="3228975"/>
            <a:ext cx="46101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While academic curriculum extensively covers building Machine Learning and Deep Learning models, students often lack hands-on exposure to deploying models into real-world production systems.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4124325"/>
            <a:ext cx="114300" cy="647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7275" y="4086225"/>
            <a:ext cx="46101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 high-performing ML model in a Jupyter Notebook provides zero business value until it is exposed as a reliable, scalable, monitorable, and secure API service.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267075"/>
            <a:ext cx="133350" cy="647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2275" y="3228975"/>
            <a:ext cx="4591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This internship addresses the complete end-to-end lifecycle of production AI: model serving, container packaging, cloud hosting, automated scaling, observability, and retraining triggers.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4124325"/>
            <a:ext cx="133350" cy="647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72275" y="4086225"/>
            <a:ext cx="4591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Mastering industry-grade tools (FastAPI, Docker, Kubernetes, LangChain, SageMaker) to transform research prototypes into enterprise AI solutions.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328862"/>
            <a:ext cx="5448300" cy="1409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328862"/>
            <a:ext cx="5448300" cy="1409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67162"/>
            <a:ext cx="5448300" cy="1209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967162"/>
            <a:ext cx="5448300" cy="1209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8446" y="419100"/>
            <a:ext cx="11283553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Core Project Objectives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76250"/>
            <a:ext cx="260746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2586037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2586037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4224337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4224337"/>
            <a:ext cx="533400" cy="533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975" y="2738437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14475" y="2586037"/>
            <a:ext cx="442055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API &amp; Containerization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4475" y="2881312"/>
            <a:ext cx="4210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Learn advanced model serving with FastAPI (async operations) and build portable, production-ready Docker containers for MLOps.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300" y="2738437"/>
            <a:ext cx="2857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91375" y="2586037"/>
            <a:ext cx="442055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Cloud &amp;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1375" y="2881312"/>
            <a:ext cx="4210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Deploy AI/GenAI models on Amazon SageMaker, Vertex AI, and Azure ML, and manage multi-container pods using Kubernetes.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376737"/>
            <a:ext cx="2857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14475" y="4224337"/>
            <a:ext cx="442055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Agentic Workflows &amp;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4475" y="4519612"/>
            <a:ext cx="4210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Construct intelligent AI agents and business automation pipelines using LangChain, LlamaIndex, LangGraph, and Vector Databases.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9875" y="4376737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91375" y="4224337"/>
            <a:ext cx="442055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Observability &amp;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1375" y="4519612"/>
            <a:ext cx="4210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Implement continuous monitoring and logging using Prometheus, Grafana, and Evidently AI for automated drift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24075"/>
            <a:ext cx="5448300" cy="15144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124075"/>
            <a:ext cx="5448300" cy="1514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67150"/>
            <a:ext cx="544830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867150"/>
            <a:ext cx="5448300" cy="1514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8446" y="419100"/>
            <a:ext cx="11283553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Technologies &amp; MLOps Toolchain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76250"/>
            <a:ext cx="260746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6325" y="2362200"/>
            <a:ext cx="466725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Serving &amp;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3225" y="2362200"/>
            <a:ext cx="466725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DevOps &amp;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4105275"/>
            <a:ext cx="46863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GenAI &amp;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4175" y="4105275"/>
            <a:ext cx="46863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Monitoring &amp; Drift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386012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733675"/>
            <a:ext cx="714375" cy="285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" y="2733675"/>
            <a:ext cx="1590675" cy="285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7075" y="2733675"/>
            <a:ext cx="819150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1475" y="2733675"/>
            <a:ext cx="1133475" cy="285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386012"/>
            <a:ext cx="19050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8425" y="2733675"/>
            <a:ext cx="714375" cy="2857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58050" y="2733675"/>
            <a:ext cx="990600" cy="285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3900" y="2733675"/>
            <a:ext cx="1257300" cy="285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96450" y="2733675"/>
            <a:ext cx="1285875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8425" y="3114675"/>
            <a:ext cx="847725" cy="2857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1525" y="4129087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1525" y="4476750"/>
            <a:ext cx="914400" cy="2857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81175" y="4476750"/>
            <a:ext cx="962025" cy="2857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38450" y="4476750"/>
            <a:ext cx="9334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67150" y="4476750"/>
            <a:ext cx="609600" cy="2857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0" y="4476750"/>
            <a:ext cx="952500" cy="2857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1525" y="4857750"/>
            <a:ext cx="1038225" cy="2857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48425" y="4129087"/>
            <a:ext cx="17145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48425" y="4476750"/>
            <a:ext cx="1019175" cy="2857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62850" y="4476750"/>
            <a:ext cx="752475" cy="2857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10575" y="4476750"/>
            <a:ext cx="1000125" cy="2857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05950" y="4476750"/>
            <a:ext cx="838200" cy="2857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48425" y="4857750"/>
            <a:ext cx="1228725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19275"/>
            <a:ext cx="11125200" cy="666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19375"/>
            <a:ext cx="11125200" cy="66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419475"/>
            <a:ext cx="11125200" cy="666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219575"/>
            <a:ext cx="11125200" cy="666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019675"/>
            <a:ext cx="11125200" cy="666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1981200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781300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3581400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4381500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50" y="5181600"/>
            <a:ext cx="342900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546" y="419100"/>
            <a:ext cx="11245453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Production AI Architecture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76250"/>
            <a:ext cx="298846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9732" y="2059334"/>
            <a:ext cx="689074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Base ML / LLM models providing core intelligence and inference capabilities.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9732" y="2859434"/>
            <a:ext cx="689074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FastAPI wrapper delivering high-throughput sync &amp; async inference REST endpoints.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9732" y="3659534"/>
            <a:ext cx="689074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Docker packaged containers orchestrated via Kubernetes pods across AWS/Azure/Vertex.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9732" y="4459634"/>
            <a:ext cx="689074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LangChain &amp; LlamaIndex workflows integrated with interactive Streamlit interfaces.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9732" y="5259734"/>
            <a:ext cx="6890742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Real-time tracking and metrics using Prometheus, Grafana, and Evidently AI.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4450" y="2052637"/>
            <a:ext cx="904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Model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4450" y="2852737"/>
            <a:ext cx="6762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API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4450" y="3652837"/>
            <a:ext cx="13430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Container &amp;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4450" y="4452937"/>
            <a:ext cx="13811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Agent &amp; App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4450" y="5253037"/>
            <a:ext cx="1447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Observability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903190"/>
            <a:ext cx="2638425" cy="169917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325" y="2903190"/>
            <a:ext cx="2638425" cy="16991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2903190"/>
            <a:ext cx="2638425" cy="16991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75" y="2903190"/>
            <a:ext cx="2638425" cy="16991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9871" y="419100"/>
            <a:ext cx="11312128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Curriculum Timeline (Weeks 1 to 4)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76250"/>
            <a:ext cx="232171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1525" y="3179415"/>
            <a:ext cx="2162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2563EB"/>
                </a:solidFill>
                <a:latin typeface="Plus Jakarta Sans ExtraBold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446115"/>
            <a:ext cx="21621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AI Deployment &amp;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769965"/>
            <a:ext cx="216217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AI lifecycle, MLOps terminology, async API endpoints, and production readiness.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3179415"/>
            <a:ext cx="2162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2563EB"/>
                </a:solidFill>
                <a:latin typeface="Plus Jakarta Sans ExtraBold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3446115"/>
            <a:ext cx="21621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Docker &amp; 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3769965"/>
            <a:ext cx="216217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Dockerfiles, container volumes, networking, and automated CI/CD for machine learning.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179415"/>
            <a:ext cx="2162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2563EB"/>
                </a:solidFill>
                <a:latin typeface="Plus Jakarta Sans ExtraBold"/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446115"/>
            <a:ext cx="21621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Cloud AI &amp; GenAI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769965"/>
            <a:ext cx="216217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SageMaker, Vertex AI, Azure ML, vLLM serving, and model quantization techniques.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179415"/>
            <a:ext cx="2162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2563EB"/>
                </a:solidFill>
                <a:latin typeface="Plus Jakarta Sans ExtraBold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446115"/>
            <a:ext cx="21621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AI Agents &amp;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3769965"/>
            <a:ext cx="216217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LangChain, LlamaIndex, agent orchestration using LangGraph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903190"/>
            <a:ext cx="2638425" cy="169917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325" y="2903190"/>
            <a:ext cx="2638425" cy="16991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2903190"/>
            <a:ext cx="2638425" cy="16991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75" y="2903190"/>
            <a:ext cx="2638425" cy="16991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9871" y="419100"/>
            <a:ext cx="11312128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Curriculum Timeline (Weeks 5 to 8)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76250"/>
            <a:ext cx="232171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1525" y="3179415"/>
            <a:ext cx="2162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2563EB"/>
                </a:solidFill>
                <a:latin typeface="Plus Jakarta Sans ExtraBold"/>
              </a:rPr>
              <a:t>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446115"/>
            <a:ext cx="21621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Security &amp; App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769965"/>
            <a:ext cx="216217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Streamlit/Gradio apps, model security, privacy, and bias mitigation strategies.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3179415"/>
            <a:ext cx="2162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2563EB"/>
                </a:solidFill>
                <a:latin typeface="Plus Jakarta Sans ExtraBold"/>
              </a:rPr>
              <a:t>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3446115"/>
            <a:ext cx="21621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Kubernetes &amp; 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3769965"/>
            <a:ext cx="216217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Container orchestration, Pods, Services, Prometheus, and Grafana logging.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179415"/>
            <a:ext cx="2162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2563EB"/>
                </a:solidFill>
                <a:latin typeface="Plus Jakarta Sans ExtraBold"/>
              </a:rPr>
              <a:t>WEEK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446115"/>
            <a:ext cx="21621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Optimization &amp;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769965"/>
            <a:ext cx="216217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Evidently AI drift detection, auto-retraining, Advanced RAG, and Vector DBs.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179415"/>
            <a:ext cx="2162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2563EB"/>
                </a:solidFill>
                <a:latin typeface="Plus Jakarta Sans ExtraBold"/>
              </a:rPr>
              <a:t>WEEK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446115"/>
            <a:ext cx="21621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Applied Capstone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3769965"/>
            <a:ext cx="216217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End-to-end full-stack RAG app deployment, business automation AI agents.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14487"/>
            <a:ext cx="11125200" cy="733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00312"/>
            <a:ext cx="11125200" cy="73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386137"/>
            <a:ext cx="11125200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271962"/>
            <a:ext cx="11125200" cy="733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157787"/>
            <a:ext cx="11125200" cy="733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771" y="419100"/>
            <a:ext cx="11350228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Projects &amp; Demonstrated Skills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76250"/>
            <a:ext cx="194071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1800225"/>
            <a:ext cx="361950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686050"/>
            <a:ext cx="361950" cy="361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571875"/>
            <a:ext cx="361950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457700"/>
            <a:ext cx="36195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5343525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1895475"/>
            <a:ext cx="1524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04925" y="1795462"/>
            <a:ext cx="607075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Production-Ready API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4925" y="2014537"/>
            <a:ext cx="5781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Developed high-throughput RESTful endpoints using FastAPI with async support for AI inference.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2781300"/>
            <a:ext cx="15240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04925" y="2681287"/>
            <a:ext cx="694086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Containerization &amp;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4925" y="2900362"/>
            <a:ext cx="6610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Package ML models into lightweight Docker containers and orchestrating them via Kubernetes Pods &amp; Services.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3667125"/>
            <a:ext cx="1524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04925" y="3567112"/>
            <a:ext cx="824103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Full-Stack RAG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925" y="3786187"/>
            <a:ext cx="7848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Built an end-to-end Retrieval-Augmented Generation application utilizing Vector Databases, FastAPI backend, and Streamlit frontend.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4552950"/>
            <a:ext cx="15240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04925" y="4452937"/>
            <a:ext cx="68808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Agentic Workflows for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925" y="4672012"/>
            <a:ext cx="6553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Designed multi-step AI agents using LangChain and LangGraph for real-world enterprise business automation.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5438775"/>
            <a:ext cx="152400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04925" y="5338762"/>
            <a:ext cx="731091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Model Governance &amp; Drift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4925" y="5557837"/>
            <a:ext cx="6962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Configured Evidently AI alongside Prometheus and Grafana dashboards to track prediction drift and trigger retraining.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66800"/>
            <a:ext cx="11125200" cy="79550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8446" y="419100"/>
            <a:ext cx="11283553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Official Certificate of Internship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76250"/>
            <a:ext cx="260746" cy="26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800100"/>
            <a:ext cx="11125200" cy="58851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2881312"/>
            <a:ext cx="6191250" cy="2085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54704" y="1890712"/>
            <a:ext cx="328244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FFFFFF"/>
                </a:solidFill>
                <a:latin typeface="Plus Jakarta Sans ExtraBold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400" y="3271837"/>
            <a:ext cx="5029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93C5FD"/>
                </a:solidFill>
                <a:latin typeface="Plus Jakarta Sans ExtraBold"/>
              </a:rPr>
              <a:t>Shaily Pathak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400" y="3767137"/>
            <a:ext cx="5029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E2E8F0"/>
                </a:solidFill>
                <a:latin typeface="Inter SemiBold"/>
              </a:rPr>
              <a:t>Roll No: 25SCS1003003726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400" y="4081462"/>
            <a:ext cx="5029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Inter"/>
              </a:rPr>
              <a:t>School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400" y="4386262"/>
            <a:ext cx="5029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Inter"/>
              </a:rPr>
              <a:t>IILM University, Greater Noida, U.P.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775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2026-09-08T05:14:53Z</dcterms:modified>
  <cp:category/>
</cp:coreProperties>
</file>